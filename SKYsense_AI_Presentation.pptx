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84248"/>
            <a:ext cx="12188952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MASTER'S DEGREE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SKYsense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B0BED4"/>
                </a:solidFill>
              </a:rPr>
              <a:t>Precision Cloud &amp; Rainfall Intelligence via Deep Transfer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377440"/>
            <a:ext cx="2743200" cy="12801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27432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8716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</a:rPr>
              <a:t>2,543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D4"/>
                </a:solidFill>
              </a:rPr>
              <a:t>Cloud Specimens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377440"/>
            <a:ext cx="2743200" cy="12801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2377440"/>
            <a:ext cx="27432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48716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</a:rPr>
              <a:t>58.27%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D4"/>
                </a:solidFill>
              </a:rPr>
              <a:t>Test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377440"/>
            <a:ext cx="2743200" cy="12801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377440"/>
            <a:ext cx="27432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48716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FF"/>
                </a:solidFill>
              </a:rPr>
              <a:t>87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D4"/>
                </a:solidFill>
              </a:rPr>
              <a:t>Automated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ED4"/>
                </a:solidFill>
              </a:rPr>
              <a:t>Technology Stack:  Python 3.11  ·  TensorFlow 2.21  ·  Keras 3  ·  Xception CNN  ·  Django 5.2  ·  Chart.js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Department of Computer Science  · 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9224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BED4"/>
                </a:solidFill>
              </a:rPr>
              <a:t>All performance metrics are empirical values measured on independent held-out test data. No results have been fabricated.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Challenge: Localized Rainfall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Traditional methods are expensive, coarse-grained, and inaccessible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44805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303520" cy="64008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E6E"/>
                </a:solidFill>
              </a:rPr>
              <a:t>❌  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Doppler radar networks cost $1M–$5M per unit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Satellite imagery has 1–6 km spatial resolution gaps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Rural and developing regions have zero radar coverage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Forecast latency of 15–60 minutes for localized events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No affordable edge-deployable alternative exists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Ground-truth optical data is abundant but unused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554480"/>
            <a:ext cx="5760720" cy="44805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554480"/>
            <a:ext cx="5760720" cy="6400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00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✅  The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1168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Ground-level sky cameras are low-cost (&lt; $50)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Cloud morphology carries strong precipitation signals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Deep CNNs extract spatial texture features automatically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Transfer learning overcomes small dataset constraints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Edge TFLite models can run on Raspberry Pi in &lt; 320 ms</a:t>
            </a:r>
          </a:p>
          <a:p>
            <a:pPr>
              <a:spcBef>
                <a:spcPts val="1296"/>
              </a:spcBef>
            </a:pPr>
            <a:r>
              <a:rPr sz="1300">
                <a:solidFill>
                  <a:srgbClr val="FFFFFF"/>
                </a:solidFill>
              </a:rPr>
              <a:t>▸  REST API allows any sensor node to submit optical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OBJECTIVE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Research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Build and validate a deep learning system for cloud-image-based rainfall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749039" cy="4846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3749039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BD8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Classification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Train Xception CNN on 2,543 CCSN cloud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Two-phase transfer learning methodology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Classify into 3 rainfall probability regimes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Export validated TFLite edge model (20.5 MB)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600200"/>
            <a:ext cx="3749039" cy="4846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600200"/>
            <a:ext cx="3749039" cy="6400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88E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Django Web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Authenticated web interface with prediction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Real-time inference with confidence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566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Projector-ready demo mode for presentations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Headless REST API for automated ingestion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600200"/>
            <a:ext cx="3749039" cy="4846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600200"/>
            <a:ext cx="3749039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A500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IoT-Ready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Forward-compatible REST API specification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Simulated edge device client (ESP32 / RPi)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566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Optional telemetry fields: GPS, temp, humidity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▸  Software layer complete — hardware is future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CCSN Cloud Database — 2,543 Verified Specimens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Cirrus Cumulus Stratus Nimbus Database · Kaggle · WMO-compliant cloud genus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7315200" cy="45262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7315200" cy="36576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81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81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Cloud Genera (WMO)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819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Train (70%)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5819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 (15%)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819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 (15%)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581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65960"/>
            <a:ext cx="7315200" cy="5486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3911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Low/Med 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0391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As, St, Sc, 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03911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3911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39112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03911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1,002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32888"/>
            <a:ext cx="7315200" cy="548640"/>
          </a:xfrm>
          <a:prstGeom prst="rect">
            <a:avLst/>
          </a:prstGeom>
          <a:solidFill>
            <a:srgbClr val="12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60604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Med/Heavy 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606040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Cb, Cu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60604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260604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0604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60604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621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99815"/>
            <a:ext cx="7315200" cy="5486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17296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No/Low 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17296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Ci, Cs, Cc, Ac, 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172968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3172968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172968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17296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920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66744"/>
            <a:ext cx="7315200" cy="548640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3989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TOTAL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3739896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11 Genera → 3 Classes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3739896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1,779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3739896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383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739896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381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73989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2,543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251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★ Stratified 70/15/15 split · seed=42 · Zero overlap verified (SHA-256 file hashes)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1554480"/>
            <a:ext cx="3840480" cy="12801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55279" y="1554480"/>
            <a:ext cx="384048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Reproducible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1993391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seed = 42
Deterministic
stratified split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3017520"/>
            <a:ext cx="3840480" cy="12801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55279" y="3017520"/>
            <a:ext cx="384048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Zero Leakage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3456432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Train ∩ Val ∩ Test
= ∅  verified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79" y="4480560"/>
            <a:ext cx="3840480" cy="12801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55279" y="4480560"/>
            <a:ext cx="384048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No Augment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919472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Val &amp; Test receive
rescaling only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Xception CNN — Deep Transfer Learning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Extreme Inception · 20.8M Parameters · Depthwise Separable Convolutions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1389888" cy="16459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1389888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73736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8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2194560"/>
            <a:ext cx="12984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256×256×3
RGB Tensor
[0, 1] normalized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3317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1368" y="1691640"/>
            <a:ext cx="1389888" cy="16459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1368" y="1691640"/>
            <a:ext cx="1389888" cy="64008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7088" y="173736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2A5E"/>
                </a:solidFill>
              </a:rPr>
              <a:t>ENTRY
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194560"/>
            <a:ext cx="12984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3× Depthwise
Sep. Conv Blocks
+ Max Pooling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317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82696" y="1691640"/>
            <a:ext cx="1389888" cy="16459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82696" y="1691640"/>
            <a:ext cx="1389888" cy="64008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8416" y="173736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2A5E"/>
                </a:solidFill>
              </a:rPr>
              <a:t>MIDDLE
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2194560"/>
            <a:ext cx="12984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8× Residual
Blocks
728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23317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4024" y="1691640"/>
            <a:ext cx="1389888" cy="16459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64024" y="1691640"/>
            <a:ext cx="1389888" cy="64008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9744" y="173736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2A5E"/>
                </a:solidFill>
              </a:rPr>
              <a:t>EXIT
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2194560"/>
            <a:ext cx="12984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1024→1536
→2048 filters
+ Max Pooling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23317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691640"/>
            <a:ext cx="1389888" cy="16459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1691640"/>
            <a:ext cx="1389888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173736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8"/>
                </a:solidFill>
              </a:rPr>
              <a:t>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2194560"/>
            <a:ext cx="12984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Global Average
Pooling
2048-dim 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44383" y="23317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80" y="1691640"/>
            <a:ext cx="1389888" cy="16459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26680" y="1691640"/>
            <a:ext cx="1389888" cy="64008"/>
          </a:xfrm>
          <a:prstGeom prst="rect">
            <a:avLst/>
          </a:prstGeom>
          <a:solidFill>
            <a:srgbClr val="1A3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173736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20"/>
                </a:solidFill>
              </a:rPr>
              <a:t>DROPOUT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194560"/>
            <a:ext cx="12984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rate = 0.30
Regularization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2331720"/>
            <a:ext cx="109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1691640"/>
            <a:ext cx="1389888" cy="16459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08008" y="1691640"/>
            <a:ext cx="1389888" cy="6400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3728" y="1737360"/>
            <a:ext cx="12984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8E"/>
                </a:solidFill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2194560"/>
            <a:ext cx="12984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Dense(3)
Softmax
Probabilities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520440"/>
            <a:ext cx="11521440" cy="16459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56616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Why Xception over ResNet / VGG?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3931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Depthwise Separable Convolutions decouple spatial and channel correlations — superior for cloud texture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4233672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8× fewer multiplications than standard convolutions while maintaining representational power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4535424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ImageNet pre-training provides low-level edge detectors transferable to cloud morphology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4837176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Compact edge export: full Keras model 80.1 MB → TFLite 20.5 MB → 40ms CPU inference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TRAINING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Two-Phase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ImageNet Pre-training → Feature Extraction → Fine-Tuning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669280" cy="4846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5669280" cy="7315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Feature Extraction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5303520" cy="2286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Backbone: All 132 Xception layers FROZEN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Only 6,147 classification head parameters trained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Optimizer: Adam  ·  LR = 1×10⁻³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Epochs: 10  ·  Batch: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Goal: Adapt ImageNet features to cloud domain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5669280" cy="4846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554480"/>
            <a:ext cx="5669280" cy="73152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Fine-Tuning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2423160"/>
            <a:ext cx="5303520" cy="2286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Top 30 Xception layers UNFROZEN (≈4.8M params)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Conservative LR = 1×10⁻⁵ to prevent catastrophic forgetting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20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EarlyStopping (patience=5)  ·  ReduceLROnPlateau (factor=0.5)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023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Checkpoint: best val_loss → best_xception_rainfall.keras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26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Epochs: 25  ·  Best weights auto-restored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★  Reproducible: RANDOM_SEED = 42  ·  Val &amp; Test partitions never augmented  ·  Test set strictly held-out until final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EMPIRICAL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Performance — Independent Test Set (N = 381)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All metrics are empirical. Evaluated once on strictly held-out data never seen during training.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2194560" cy="11887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21945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</a:rPr>
              <a:t>58.27%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76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Test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554480"/>
            <a:ext cx="2194560" cy="11887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554480"/>
            <a:ext cx="219456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A500"/>
                </a:solidFill>
              </a:rPr>
              <a:t>0.9103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176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Categorical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1554480"/>
            <a:ext cx="2194560" cy="11887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79" y="1554480"/>
            <a:ext cx="219456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79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88E"/>
                </a:solidFill>
              </a:rPr>
              <a:t>56.60%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2176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Macro F1-Score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199" y="1554480"/>
            <a:ext cx="2194560" cy="11887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199" y="1554480"/>
            <a:ext cx="219456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9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BD8"/>
                </a:solidFill>
              </a:rPr>
              <a:t>57.58%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9" y="2176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Weighted F1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19" y="1554480"/>
            <a:ext cx="2194560" cy="11887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19" y="1554480"/>
            <a:ext cx="2194560" cy="54864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19" y="16459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3E6E"/>
                </a:solidFill>
              </a:rPr>
              <a:t>381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2176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D4"/>
                </a:solidFill>
              </a:rPr>
              <a:t>Test Specimens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80360"/>
            <a:ext cx="11521440" cy="2606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880360"/>
            <a:ext cx="11521440" cy="347472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90779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29077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29077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29077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290779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90779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Insight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264408"/>
            <a:ext cx="11521440" cy="566928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264408"/>
            <a:ext cx="54864" cy="56692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3558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Low_to_Medium_Rain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33558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54.0%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33558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72.0%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3558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61.7%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33558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35584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</a:rPr>
              <a:t>High recall — stratiform cloud decks reliably detected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858768"/>
            <a:ext cx="11521440" cy="566928"/>
          </a:xfrm>
          <a:prstGeom prst="rect">
            <a:avLst/>
          </a:prstGeom>
          <a:solidFill>
            <a:srgbClr val="12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3858768"/>
            <a:ext cx="54864" cy="566928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3950207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E6E"/>
                </a:solidFill>
              </a:rPr>
              <a:t>Medium_to_Heavy_Rain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3950207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69.2%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3950207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38.7%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3950207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49.7%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3950207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3950207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</a:rPr>
              <a:t>High precision — when predicted, it is usually correct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453128"/>
            <a:ext cx="11521440" cy="566928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4453128"/>
            <a:ext cx="54864" cy="56692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5445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No_to_Low_Rain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5445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60.5%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5445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56.5%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5445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58.4%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9240" y="45445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138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45445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</a:rPr>
              <a:t>Clear sky well-separated from severe convection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★  Baseline random-guess accuracy = 33.3%  ·  Model achieves 58.27% — a genuine physical signal extracted from optical cloud textures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Confusion Matrix — Test Set (N = 381)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Rows = Actual Class  ·  Columns = Predicted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PREDICTED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417320" cy="5029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847088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Low/Med
Rain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828800"/>
            <a:ext cx="1417320" cy="5029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39" y="1847088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Med/Heavy
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1417320" cy="5029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1847088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No/Low
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59152"/>
            <a:ext cx="960120" cy="1417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633472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Low/Med
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359152"/>
            <a:ext cx="1417320" cy="141732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2359152"/>
            <a:ext cx="141732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633472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108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278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4"/>
                </a:solidFill>
              </a:rPr>
              <a:t>28.3%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359152"/>
            <a:ext cx="1417320" cy="1417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633472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2278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4"/>
                </a:solidFill>
              </a:rPr>
              <a:t>2.6%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359152"/>
            <a:ext cx="1417320" cy="1417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2633472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2278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4"/>
                </a:solidFill>
              </a:rPr>
              <a:t>8.4%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76472"/>
            <a:ext cx="960120" cy="1417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050791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Med/Heavy
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776472"/>
            <a:ext cx="1417320" cy="1417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050791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64515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4"/>
                </a:solidFill>
              </a:rPr>
              <a:t>10.0%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3776472"/>
            <a:ext cx="1417320" cy="141732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88920" y="3776472"/>
            <a:ext cx="141732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4050791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64515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4"/>
                </a:solidFill>
              </a:rPr>
              <a:t>9.4%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776472"/>
            <a:ext cx="1417320" cy="1417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050791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64515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4"/>
                </a:solidFill>
              </a:rPr>
              <a:t>5.0%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193792"/>
            <a:ext cx="960120" cy="14173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468112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No/Low
Rain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5193792"/>
            <a:ext cx="1417320" cy="1417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0" y="5468112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54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606247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4"/>
                </a:solidFill>
              </a:rPr>
              <a:t>14.2%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8920" y="5193792"/>
            <a:ext cx="1417320" cy="14173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8920" y="5468112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606247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4"/>
                </a:solidFill>
              </a:rPr>
              <a:t>1.6%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5193792"/>
            <a:ext cx="1417320" cy="1417320"/>
          </a:xfrm>
          <a:prstGeom prst="rect">
            <a:avLst/>
          </a:prstGeom>
          <a:solidFill>
            <a:srgbClr val="0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06240" y="5193792"/>
            <a:ext cx="141732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5468112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78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606247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ED4"/>
                </a:solidFill>
              </a:rPr>
              <a:t>20.5%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" y="3200400"/>
            <a:ext cx="45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</a:rPr>
              <a:t>A
C
T
U
A
L
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0" y="1737360"/>
            <a:ext cx="5852160" cy="13258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43600" y="1737360"/>
            <a:ext cx="585216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18288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Strong Stratiform Detection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2194560"/>
            <a:ext cx="5669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108/150 Low/Med Rain correctly identified
Recall = 72.0%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3246120"/>
            <a:ext cx="5852160" cy="13258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43600" y="3246120"/>
            <a:ext cx="585216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33375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Convective Precision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3703320"/>
            <a:ext cx="5669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When Med/Heavy predicted → 69.2% correct
Low false heavy-rain alarm rate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4754879"/>
            <a:ext cx="5852160" cy="13258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43600" y="4754879"/>
            <a:ext cx="585216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35040" y="484631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Clear Sky Separation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5212079"/>
            <a:ext cx="5669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Only 6 dry-sky specimens misclassified
as severe convective (1.6%)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SKYsense AI — Full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5-tier design: Client → Security → Django → AI Engine →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8229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1152144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2011680" cy="822960"/>
          </a:xfrm>
          <a:prstGeom prst="rect">
            <a:avLst/>
          </a:prstGeom>
          <a:solidFill>
            <a:srgbClr val="0D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013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</a:rPr>
              <a:t>CLIENT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783080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Web Browser (UI)    ·    Simulated IoT Client (CLI)    ·    Future ESP32 / Raspberry Pi Camera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2316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96312"/>
            <a:ext cx="11521440" cy="8229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496312"/>
            <a:ext cx="11521440" cy="45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496312"/>
            <a:ext cx="2011680" cy="822960"/>
          </a:xfrm>
          <a:prstGeom prst="rect">
            <a:avLst/>
          </a:prstGeom>
          <a:solidFill>
            <a:srgbClr val="0D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A500"/>
                </a:solidFill>
              </a:rPr>
              <a:t>SECURITY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679192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CSRF Middleware   ·   File Size Limit (15 MB)   ·   MIME Whitelist (JPEG/PNG)   ·   Pillow Binary Verification   ·   UUID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319272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92424"/>
            <a:ext cx="11521440" cy="8229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4572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2011680" cy="822960"/>
          </a:xfrm>
          <a:prstGeom prst="rect">
            <a:avLst/>
          </a:prstGeom>
          <a:solidFill>
            <a:srgbClr val="0D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5935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8BD8"/>
                </a:solidFill>
              </a:rPr>
              <a:t>DJANGO APP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575304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Authentication Views   ·   Prediction Views   ·   Demo Engine (/demo/)   ·   REST API (/api/predict/)   ·   Dashboard &amp;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215384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288536"/>
            <a:ext cx="11521440" cy="8229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288536"/>
            <a:ext cx="11521440" cy="4572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288536"/>
            <a:ext cx="2011680" cy="822960"/>
          </a:xfrm>
          <a:prstGeom prst="rect">
            <a:avLst/>
          </a:prstGeom>
          <a:solidFill>
            <a:srgbClr val="0D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4897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8E"/>
                </a:solidFill>
              </a:rPr>
              <a:t>AI INFERENCE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471416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RainfallInferenceService (Singleton)   ·   Bilinear Resize 256×256   ·   Xception CNN   ·   Softmax → 3-Class Vector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111496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184648"/>
            <a:ext cx="11521440" cy="8229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5184648"/>
            <a:ext cx="11521440" cy="45720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5184648"/>
            <a:ext cx="2011680" cy="822960"/>
          </a:xfrm>
          <a:prstGeom prst="rect">
            <a:avLst/>
          </a:prstGeom>
          <a:solidFill>
            <a:srgbClr val="0D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53858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E6E"/>
                </a:solidFill>
              </a:rPr>
              <a:t>PERSISTENCE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367528"/>
            <a:ext cx="9235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SQLite3 / PostgreSQL   ·   PredictionRecord ORM   ·   UUID Media Storage   ·   Evaluation Metrics 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Django Web Portal — Feature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Authenticated · Responsive · Chart.js Analytics · Defense-in-Depth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834640" cy="22402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283464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🏠  Landing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231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Technology overview, pipeline diagram, live metric badges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00200"/>
            <a:ext cx="2834640" cy="22402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600200"/>
            <a:ext cx="283464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🔐 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</a:rPr>
              <a:t>/register/ &amp; /login/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4231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Secure register, login, logout, profile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2834640" cy="22402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600200"/>
            <a:ext cx="28346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🌤️  Cloud Upload &amp; AI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</a:rPr>
              <a:t>/predict/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4231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Drag-and-drop JPEG/PNG upload → real Xception inference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600200"/>
            <a:ext cx="2834640" cy="22402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600200"/>
            <a:ext cx="28346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🎯  Demo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</a:rPr>
              <a:t>/demo/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42316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Projector-optimized, 12 pre-loaded specimens, laser scan animation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69080"/>
            <a:ext cx="2834640" cy="22402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069080"/>
            <a:ext cx="283464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📊  Analytics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</a:rPr>
              <a:t>/dashboard/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892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Chart.js: daily volume, class distribution, confidence histogram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69080"/>
            <a:ext cx="2834640" cy="22402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4069080"/>
            <a:ext cx="283464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📜  Prediction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</a:rPr>
              <a:t>/history/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892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Searchable, filterable audit log with UUID tracking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069080"/>
            <a:ext cx="2834640" cy="22402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4069080"/>
            <a:ext cx="2834640" cy="54864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79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E6E"/>
                </a:solidFill>
              </a:rPr>
              <a:t>📈  Model 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</a:rPr>
              <a:t>/performance/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79" y="4892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Live test accuracy (58.27%), loss, F1, confusion matrix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35440" y="4069080"/>
            <a:ext cx="2834640" cy="22402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35440" y="4069080"/>
            <a:ext cx="28346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🔌  REST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</a:rPr>
              <a:t>/api/predict/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89204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POST multipart/form-data → JSON response, IoT-ready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REST API — POST /api/predict/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Stateless · multipart/form-data · JSON Response · IoT-Forward Compatible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5486400" cy="50292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POST /api/predict/ HTTP/1.1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505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Content-Type: multipart/form-data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950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2841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8BD8"/>
                </a:solidFill>
              </a:rPr>
              <a:t>image         ← REQUIRED (JPEG/PNG, ≤ 15 MB)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67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device_id     ← optional: 'RPI-NODE-01'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latitude      ← optional: float (-90 to +90)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645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longitude     ← optional: float (-180 to +180)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0840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temperature   ← optional: °C float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5229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humidity      ← optional: % float (0–100)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554480"/>
            <a:ext cx="5760720" cy="50292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600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JSON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01168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5915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8E"/>
                </a:solidFill>
              </a:rPr>
              <a:t>  "success": true,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70662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8E"/>
                </a:solidFill>
              </a:rPr>
              <a:t>  "prediction": "Medium_to_Heavy_Rain",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05409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  "confidence": 0.503,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40156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"probabilities":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749039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"Low_to_Medium_Rain": 0.295,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09651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"Medium_to_Heavy_Rain": 0.503,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44398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  "No_to_Low_Rain": 0.202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79145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},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138928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"timestamp": "2026-09-24T06:00:00Z",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48640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"model_version": "Xception-v1.0",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83387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"processing_time_ms": 38.4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618134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Defense-in-Depth Security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OWASP-aligned hardening · manage.py check --deploy: 0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71500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8E"/>
                </a:solidFill>
              </a:rPr>
              <a:t>File Upload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1168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15 MB hard limit · JPEG/PNG whitelist · Pillow binary header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7150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6916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</a:rPr>
              <a:t>UUID-Based File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01168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Uploads stored as random UUID hex filenames — prevents path injection and overwrites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24328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624328"/>
            <a:ext cx="5715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157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CSRF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03580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CsrfViewMiddleware active · CSRF_COOKIE_HTTPONLY=True · SameSite=Lax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624328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24328"/>
            <a:ext cx="571500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27157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Path Traversal Prevention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035808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.resolve().relative_to() bounds checking on all sample image 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48456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648456"/>
            <a:ext cx="571500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73989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8E"/>
                </a:solidFill>
              </a:rPr>
              <a:t>Secure Cookies (Production)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05993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SESSION_COOKIE_SECURE=True · CSRF_COOKIE_SECURE=True when DJANGO_ENV=production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648456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648456"/>
            <a:ext cx="57150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373989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</a:rPr>
              <a:t>HSTS (1 Year)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4059936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SECURE_HSTS_SECONDS=31536000 · includeSubDomains · preload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672584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672584"/>
            <a:ext cx="5715000" cy="54864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7640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E6E"/>
                </a:solidFill>
              </a:rPr>
              <a:t>No Stack Trace Leaks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08406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 400/403/404/500 error views · DEBUG=False in production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72584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72584"/>
            <a:ext cx="571500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79" y="476402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Secret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79" y="5084064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DJANGO_SECRET_KEY from .env · .env excluded by .gitignore · .env.example has only placeholders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696712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5696712"/>
            <a:ext cx="571500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5788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8E"/>
                </a:solidFill>
              </a:rPr>
              <a:t>Authorization Isolation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610819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Users only see own predictions · Admin inspection privilege for staff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5696712"/>
            <a:ext cx="5715000" cy="9144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5696712"/>
            <a:ext cx="5715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79" y="5788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WhiteNoise Static Serving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79" y="6108192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CompressedManifestStaticFilesStorage · Immutable cache headers · No separate CDN required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IoT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IoT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Software interface complete · Physical hardware is explicitly future research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11521440" cy="502920"/>
          </a:xfrm>
          <a:prstGeom prst="rect">
            <a:avLst/>
          </a:prstGeom>
          <a:solidFill>
            <a:srgbClr val="4A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1152144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⚠  ACADEMIC INTEGRITY NOTICE: Physical IoT hardware was NOT built as part of this thesis. The software architecture is complete and validated using a simulated edge client.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40280"/>
            <a:ext cx="2560320" cy="2377440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240280"/>
            <a:ext cx="2560320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EDGE CAMERA
(Future)
ESP32-CAM
Raspberry Pi
Jetson Nano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154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240280"/>
            <a:ext cx="2560320" cy="2377440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4760" y="2240280"/>
            <a:ext cx="2560320" cy="6400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23774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IoT SIMULATOR
(Current)
Simulate Device
Python CLI
CLI 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154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240280"/>
            <a:ext cx="2560320" cy="2377440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2240280"/>
            <a:ext cx="25603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23774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REST API
(Complete)
POST /api/predict/
multipart/form-data
JSON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3154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2240280"/>
            <a:ext cx="2560320" cy="2377440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55480" y="2240280"/>
            <a:ext cx="256032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19" y="237744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AI ENGINE
(Complete)
Xception CNN
Singleton Service
38ms Inference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754880"/>
            <a:ext cx="11521440" cy="178308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8006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Telemetry Fields Supported by /api/predict/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1937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device_id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4681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Edge node identifier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696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e.g. RPI-NODE-01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1937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latitude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4681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GPS Latitude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5696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e.g. 28.6139°N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51937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longitude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54681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GPS Longitude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5696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e.g. 77.2090°E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51937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temperature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4681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Ambient temperature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5696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e.g. 28.4°C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51937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humidity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546811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Relative 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56967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e.g. 81.2%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All telemetry fields are optional and do not affect current web-upload or demo functionality.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IoT SIMULATOR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Simulated IoT Edge Client —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Proves forward-compatibility of the REST API without requiring physical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11521440" cy="54864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1152144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45920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python iot_simulator/simulate_device.py demo_images/medium_heavy/Cb_Cb-N002.jpg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86000"/>
            <a:ext cx="6858000" cy="4251960"/>
          </a:xfrm>
          <a:prstGeom prst="rect">
            <a:avLst/>
          </a:prstGeom>
          <a:solidFill>
            <a:srgbClr val="05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286000"/>
            <a:ext cx="68580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D8"/>
                </a:solidFill>
              </a:rPr>
              <a:t>Terminal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5176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════════════════════════════════════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916936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   SIMULATED IoT DEVICE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82112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════════════════════════════════════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447287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500"/>
                </a:solidFill>
              </a:rPr>
              <a:t>[!] NOTICE: SIMULATED IoT DEVICE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12463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[INFO] Device ID:    SIM-ESP32-CAM-01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77639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[INFO] Station:      Mountain Weather Node Alpha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42816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[INFO] Coordinates:  Lat 28.6139, Lon 77.2090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507992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[INFO] Sensors:      Temp 28.4°C, Humidity 81.2%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773168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8BD8"/>
                </a:solidFill>
              </a:rPr>
              <a:t>[INFO] POST → http://127.0.0.1:8000/api/predict/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38344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88E"/>
                </a:solidFill>
              </a:rPr>
              <a:t>[SUCCESS] HTTP 200 OK in 42.1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303520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────────────────────────────────────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568696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3E6E"/>
                </a:solidFill>
              </a:rPr>
              <a:t>Verdict:  Medium_to_Heavy_Rain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833871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Confidence:  50.3%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099048"/>
            <a:ext cx="6675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Process time:  42.1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286000"/>
            <a:ext cx="4709160" cy="9601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2286000"/>
            <a:ext cx="470916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8"/>
                </a:solidFill>
              </a:rPr>
              <a:t>What It Demonstrates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69748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 REST API (/api/predict/) accepts cloud
images from any HTTP client — browser,
Python script, or future microcontroller.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319272"/>
            <a:ext cx="4709160" cy="9601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06640" y="3319272"/>
            <a:ext cx="470916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410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8E"/>
                </a:solidFill>
              </a:rPr>
              <a:t>What Is Simulated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730752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Device metadata (GPS, temperature, humidity)
are randomly generated to simulate sensor
readings from a real field station.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352544"/>
            <a:ext cx="4709160" cy="9601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06640" y="4352544"/>
            <a:ext cx="470916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444398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What Is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764024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 HTTP POST, the AI inference, the
json response, and the database record
are all real — not mocked.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5385816"/>
            <a:ext cx="4709160" cy="96012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06640" y="5385816"/>
            <a:ext cx="4709160" cy="54864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5477255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E6E"/>
                </a:solidFill>
              </a:rPr>
              <a:t>Future Hardware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5797296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When ESP32-CAM or RPi nodes are deployed,
they use this exact same API call with
no server-side changes required.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SCIENTIFIC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Acknowledged Limitations &amp; Scientific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Transparent reporting is fundamental to academic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715000" cy="1463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715000" cy="54864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099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E6E"/>
                </a:solidFill>
              </a:rPr>
              <a:t>2D Optical Base Observation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93976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Ground cameras capture only the cloud base. They cannot measure vertical cloud thickness, cloud-top height, or Liquid Water Path (LWP) — critical parameters for quantifying rainfall rate.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715000" cy="1463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71500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7099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No Temporal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093976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 single-frame snapshot cannot reveal cloud velocity, growth trajectory, or barometric convergence. A developing Cb and a decaying Cb may be visually identical.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00400"/>
            <a:ext cx="5715000" cy="1463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200400"/>
            <a:ext cx="571500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3101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Virga Phenomenon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694176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Optical models classify based on droplet morphology. In arid/high-temperature regions, precipitation may evaporate in dry sub-cloud air before reaching the ground.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200400"/>
            <a:ext cx="5715000" cy="1463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00400"/>
            <a:ext cx="5715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3101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Illumination Sensitivity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694176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Low solar angles at dawn/dusk and direct glare can skew RGB channel intensity distributions, reducing classification confidence.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00600"/>
            <a:ext cx="5715000" cy="1463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800600"/>
            <a:ext cx="5715000" cy="54864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9103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E6E"/>
                </a:solidFill>
              </a:rPr>
              <a:t>Nighttime Inoperability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5294376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Standard RGB sensors cannot function at night. Infrared (IR) or thermal imaging would be required for 24-hour coverage.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800600"/>
            <a:ext cx="5715000" cy="1463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800600"/>
            <a:ext cx="571500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49103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Dataset Geographic Bias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5294376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CCSN images are sourced from limited geographic regions. Performance may degrade on cloud formations from tropical, polar, or desert climates.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ED4"/>
                </a:solidFill>
              </a:rPr>
              <a:t>★  58.27% accuracy on a 3-class problem (33.3% random baseline) represents genuine physical signal. Full 95%+ precision requires multi-sensor fusion.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Three research phases planned beyond the current software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794760" cy="4892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3794760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645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PHASE 2  (2026–2027)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933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IoT Hardware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2496312"/>
            <a:ext cx="3520440" cy="2286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Manufacture ESP32-CAM + BME280 (temp/humidity) field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Solar-powered weatherproof enclosures for remote sites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84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Automated cellular/LoRa telemetry to central Django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873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Multi-node geographic coverage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902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Real-time rainfall correlation with ground truth gauges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600200"/>
            <a:ext cx="3794760" cy="4892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1600200"/>
            <a:ext cx="3794760" cy="6400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7" y="1645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PHASE 3  (2027–2028)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19933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Multi-Sensor Fusion &amp; Model Improvement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7" y="2496312"/>
            <a:ext cx="3520440" cy="2286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5786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Add atmospheric pressure (BMP388) and wind sensors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0815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Temporal sequence modeling (LSTM / ConvLSTM on video frames)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584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Multi-modal fusion: optical + meteorological time series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0873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Larger, geographically diverse dataset 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5902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Target accuracy improvement to 75%+ with fusion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19" y="1600200"/>
            <a:ext cx="3794760" cy="489204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19" y="1600200"/>
            <a:ext cx="379476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7" y="1645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</a:rPr>
              <a:t>PHASE 4  (2028+)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7" y="19933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Production Network &amp; Research Publication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85047" y="2496312"/>
            <a:ext cx="3520440" cy="228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5786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Deploy 20+ sensor nodes across target region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0815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Publish peer-reviewed results with ground-truth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584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Open-source dataset contribution to meteorological community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0873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Integration with civil authority early warning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5902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Mobile application for real-time public rainfall alerts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446520"/>
            <a:ext cx="11521440" cy="347472"/>
          </a:xfrm>
          <a:prstGeom prst="rect">
            <a:avLst/>
          </a:prstGeom>
          <a:solidFill>
            <a:srgbClr val="00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6446520"/>
            <a:ext cx="11521440" cy="4572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49224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8E"/>
                </a:solidFill>
              </a:rPr>
              <a:t>✅  CURRENT STATUS (Phase 1 Complete):  Software platform · Trained Xception model · Validated REST API · IoT Simulator · 87 Automated Tests · Production Deployment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2286000" cy="320040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21945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Verified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61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D4FF"/>
                </a:solidFill>
              </a:rPr>
              <a:t>Every dependency verified against installed venv · python-pptx generated this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834640" cy="36576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2834640" cy="64008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8"/>
                </a:solidFill>
              </a:rPr>
              <a:t>Deep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08483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TensorFlow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8483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v2.21.0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743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v3.15.1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401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4015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v2.4.6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05993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h5py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05993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v3.14.0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600200"/>
            <a:ext cx="2834640" cy="36576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600200"/>
            <a:ext cx="2834640" cy="6400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8E"/>
                </a:solidFill>
              </a:rPr>
              <a:t>Web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08483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Django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8483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v5.2.17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WhiteNoise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743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v6.12.0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401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asgiref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4015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v3.12.1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05993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sqlparse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05993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v0.6.0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600200"/>
            <a:ext cx="2834640" cy="36576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600200"/>
            <a:ext cx="283464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Computer Vision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208483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Pillow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19" y="208483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v12.3.0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19" y="2743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v1.9.1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3401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scipy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19" y="34015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v1.17.1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405993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matplotlib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19" y="405993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v3.11.2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1600200"/>
            <a:ext cx="2834640" cy="36576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1600200"/>
            <a:ext cx="2834640" cy="640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</a:rPr>
              <a:t>Data &amp; Networking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7" y="208483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19" y="2084831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v3.0.6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7" y="27432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seaborn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19" y="2743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v0.13.2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5167" y="34015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requests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19" y="34015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v2.34.2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5167" y="4059935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kagglehub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19" y="4059935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D4"/>
                </a:solidFill>
              </a:rPr>
              <a:t>v1.0.2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440680"/>
            <a:ext cx="11521440" cy="114300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486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Frontend, Infrastructure &amp; Tools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HTML5 + CSS3 + Bootstrap 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Responsive UI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Chart.js 4.x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744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Interactive data visualization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4340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SQLite 3 / PostgreSQL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Relational database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59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Nginx + Gunicorn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59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Production server stack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75319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Let's Encrypt (Certbot)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19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TLS/SSL certificates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4128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8"/>
                </a:solidFill>
              </a:rPr>
              <a:t>Python-pptx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6190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This presentation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8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1368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SKYsense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BED4"/>
                </a:solidFill>
              </a:rPr>
              <a:t>A complete, validated research platform for optical cloud-to-rainfall classification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2194560" cy="26517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2194560" cy="54864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8483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8E"/>
                </a:solidFill>
              </a:rPr>
              <a:t>✅  AI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78608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Xception CNN trained
2-phase transfer learning
20.8M parameters
TFLite: 20.5 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011680"/>
            <a:ext cx="2194560" cy="26517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011680"/>
            <a:ext cx="2194560" cy="54864"/>
          </a:xfrm>
          <a:prstGeom prst="rect">
            <a:avLst/>
          </a:prstGeom>
          <a:solidFill>
            <a:srgbClr val="008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08483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BD8"/>
                </a:solidFill>
              </a:rPr>
              <a:t>✅  Web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578608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Django 5.2
87 tests passing
Demo mode
Production-ready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2011680"/>
            <a:ext cx="2194560" cy="26517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79" y="2011680"/>
            <a:ext cx="21945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79" y="208483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✅  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19" y="2578608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POST /api/predict/
IoT-compatible
JSON response
Future-ready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199" y="2011680"/>
            <a:ext cx="2194560" cy="26517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199" y="2011680"/>
            <a:ext cx="2194560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9" y="208483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</a:rPr>
              <a:t>📊  Verified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578608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58.27% test accuracy
0.9103 loss
56.60% macro F1
381 specimens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19" y="2011680"/>
            <a:ext cx="2194560" cy="2651760"/>
          </a:xfrm>
          <a:prstGeom prst="rect">
            <a:avLst/>
          </a:prstGeom>
          <a:solidFill>
            <a:srgbClr val="10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19" y="2011680"/>
            <a:ext cx="2194560" cy="54864"/>
          </a:xfrm>
          <a:prstGeom prst="rect">
            <a:avLst/>
          </a:prstGeom>
          <a:solidFill>
            <a:srgbClr val="F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19" y="2084831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3E6E"/>
                </a:solidFill>
              </a:rPr>
              <a:t>🔭  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59" y="2578608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ESP32 hardware
Multi-sensor fusion
Geographic expansion
Publication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46320"/>
            <a:ext cx="11521440" cy="1005840"/>
          </a:xfrm>
          <a:prstGeom prst="rect">
            <a:avLst/>
          </a:prstGeom>
          <a:solidFill>
            <a:srgbClr val="00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846320"/>
            <a:ext cx="115214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91947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"SKYsense AI demonstrates that affordable edge-deployable deep learning can extract genuine precipitation signals from standard ground-level cloud photography — achieving 58.27% accuracy versus a 33.3% random baseline."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37667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D4"/>
                </a:solidFill>
              </a:rPr>
              <a:t>The software architecture, trained model, validated API, and IoT-ready interface collectively form a complete research prototype.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035040"/>
            <a:ext cx="114300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Thank you for your attention. Questions welcome.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0807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00D4FF"/>
                </a:solidFill>
              </a:rPr>
              <a:t>github.com/Joseph101Gitup/SkySense-AI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0BED4"/>
                </a:solidFill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